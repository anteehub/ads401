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Title and project: https://github.com/LionChenA/ads401/blob/main/assets/pre2/scripts.md. Group member names supplied by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https://github.com/LionChenA/ads401/blob/main/assets/pre2/scripts.md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https://github.com/LionChenA/ads401/blob/main/assets/pre2/scripts.md</a:t>
            </a:r>
          </a:p>
          <a:p>
            <a:r>
              <a:t>Davis (1989). doi:10.2307/249008</a:t>
            </a:r>
          </a:p>
          <a:p>
            <a:r>
              <a:t>Farinosi &amp; Melchior (2025). doi:10.1057/s41599-025-05982-7</a:t>
            </a:r>
          </a:p>
          <a:p>
            <a:r>
              <a:t>Verified references:</a:t>
            </a:r>
          </a:p>
          <a:p>
            <a:r>
              <a:t>Perceived usefulness, perceived ease of use, and user acceptance of information technology. Davis, F. D. (1989). MIS Quarterly. https://doi.org/10.2307/249008</a:t>
            </a:r>
          </a:p>
          <a:p>
            <a:r>
              <a:t>To adopt or to ban? Student perceptions and use of generative AI in higher education. Farinosi, M., &amp; Melchior, C. (2025). Humanities and Social Sciences Communications. https://doi.org/10.1057/s41599-025-05982-7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https://github.com/LionChenA/ads401/blob/main/assets/pre2/scripts.md</a:t>
            </a:r>
          </a:p>
          <a:p>
            <a:r>
              <a:t>Ivankova et al. (2006). doi:10.1177/1525822X05282260</a:t>
            </a:r>
          </a:p>
          <a:p>
            <a:r>
              <a:t>Verified references:</a:t>
            </a:r>
          </a:p>
          <a:p>
            <a:r>
              <a:t>Using mixed-methods sequential explanatory design: From theory to practice. Ivankova, N. V., Creswell, J. W., &amp; Stick, S. L. (2006). Field Methods. https://doi.org/10.1177/1525822X05282260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https://github.com/LionChenA/ads401/blob/main/assets/pre2/scripts.md</a:t>
            </a:r>
          </a:p>
          <a:p>
            <a:r>
              <a:t>Chung et al. (2024). doi:10.26180/27915930</a:t>
            </a:r>
          </a:p>
          <a:p>
            <a:r>
              <a:t>Davis (1989). doi:10.2307/249008</a:t>
            </a:r>
          </a:p>
          <a:p>
            <a:r>
              <a:t>Verified references:</a:t>
            </a:r>
          </a:p>
          <a:p>
            <a:r>
              <a:t>Student perspectives on AI in Higher Education: Student Survey. Chung, J., Henderson, M., Pepperell, N., Slade, C., &amp; Liang, Y. (2024). Student Perspectives on AI in Higher Education Project / Monash University. https://doi.org/10.26180/27915930</a:t>
            </a:r>
          </a:p>
          <a:p>
            <a:r>
              <a:t>Perceived usefulness, perceived ease of use, and user acceptance of information technology. Davis, F. D. (1989). MIS Quarterly. https://doi.org/10.2307/249008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https://github.com/LionChenA/ads401/blob/main/assets/pre2/scripts.md</a:t>
            </a:r>
          </a:p>
          <a:p>
            <a:r>
              <a:t>Chung et al. (2024). doi:10.26180/27915930</a:t>
            </a:r>
          </a:p>
          <a:p>
            <a:r>
              <a:t>Davis (1989). doi:10.2307/249008</a:t>
            </a:r>
          </a:p>
          <a:p>
            <a:r>
              <a:t>Verified references:</a:t>
            </a:r>
          </a:p>
          <a:p>
            <a:r>
              <a:t>Student perspectives on AI in Higher Education: Student Survey. Chung, J., Henderson, M., Pepperell, N., Slade, C., &amp; Liang, Y. (2024). Student Perspectives on AI in Higher Education Project / Monash University. https://doi.org/10.26180/27915930</a:t>
            </a:r>
          </a:p>
          <a:p>
            <a:r>
              <a:t>Perceived usefulness, perceived ease of use, and user acceptance of information technology. Davis, F. D. (1989). MIS Quarterly. https://doi.org/10.2307/249008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https://github.com/LionChenA/ads401/blob/main/assets/pre2/scripts.md</a:t>
            </a:r>
          </a:p>
          <a:p>
            <a:r>
              <a:t>Braun &amp; Clarke (2006). doi:10.1191/1478088706qp063oa</a:t>
            </a:r>
          </a:p>
          <a:p>
            <a:r>
              <a:t>Fetters et al. (2013). doi:10.1111/1475-6773.12117</a:t>
            </a:r>
          </a:p>
          <a:p>
            <a:r>
              <a:t>Verified references:</a:t>
            </a:r>
          </a:p>
          <a:p>
            <a:r>
              <a:t>Using thematic analysis in psychology. Braun, V., &amp; Clarke, V. (2006). Qualitative Research in Psychology. https://doi.org/10.1191/1478088706qp063oa</a:t>
            </a:r>
          </a:p>
          <a:p>
            <a:r>
              <a:t>Achieving integration in mixed methods designs—Principles and practices. Fetters, M. D., Curry, L. A., &amp; Creswell, J. W. (2013). Health Services Research. https://doi.org/10.1111/1475-6773.12117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https://github.com/LionChenA/ads401/blob/main/assets/pre2/scripts.md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https://github.com/LionChenA/ads401/blob/main/assets/pre2/scripts.md</a:t>
            </a:r>
          </a:p>
          <a:p>
            <a:r>
              <a:t>Chung et al. (2024). doi:10.26180/27915930</a:t>
            </a:r>
          </a:p>
          <a:p>
            <a:r>
              <a:t>Farinosi &amp; Melchior (2025). doi:10.1057/s41599-025-05982-7</a:t>
            </a:r>
          </a:p>
          <a:p>
            <a:r>
              <a:t>Verified references:</a:t>
            </a:r>
          </a:p>
          <a:p>
            <a:r>
              <a:t>Student perspectives on AI in Higher Education: Student Survey. Chung, J., Henderson, M., Pepperell, N., Slade, C., &amp; Liang, Y. (2024). Student Perspectives on AI in Higher Education Project / Monash University. https://doi.org/10.26180/27915930</a:t>
            </a:r>
          </a:p>
          <a:p>
            <a:r>
              <a:t>To adopt or to ban? Student perceptions and use of generative AI in higher education. Farinosi, M., &amp; Melchior, C. (2025). Humanities and Social Sciences Communications. https://doi.org/10.1057/s41599-025-05982-7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Materials inventory: first five rows, names and links preserved from https://github.com/LionChenA/ads401/blob/main/assets/pre2/materials/material.md#2-materials-inventory . Directory: https://github.com/LionChenA/ads401/tree/main/assets/pre2/materials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hyperlink" Target="https://lionchena.github.io/ads401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hyperlink" Target="https://doi.org/10.1057/s41599-025-05982-7" TargetMode="External"/><Relationship Id="rId1" Type="http://schemas.openxmlformats.org/officeDocument/2006/relationships/hyperlink" Target="https://doi.org/10.2307/249008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hyperlink" Target="https://doi.org/10.1177/1525822X05282260" TargetMode="Externa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6.xml"/><Relationship Id="rId2" Type="http://schemas.openxmlformats.org/officeDocument/2006/relationships/hyperlink" Target="https://doi.org/10.2307/249008" TargetMode="External"/><Relationship Id="rId1" Type="http://schemas.openxmlformats.org/officeDocument/2006/relationships/hyperlink" Target="https://doi.org/10.26180/27915930" TargetMode="Externa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6.xml"/><Relationship Id="rId2" Type="http://schemas.openxmlformats.org/officeDocument/2006/relationships/hyperlink" Target="https://doi.org/10.2307/249008" TargetMode="External"/><Relationship Id="rId1" Type="http://schemas.openxmlformats.org/officeDocument/2006/relationships/hyperlink" Target="https://doi.org/10.26180/27915930" TargetMode="Externa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6.xml"/><Relationship Id="rId2" Type="http://schemas.openxmlformats.org/officeDocument/2006/relationships/hyperlink" Target="https://doi.org/10.1111/1475-6773.12117" TargetMode="External"/><Relationship Id="rId1" Type="http://schemas.openxmlformats.org/officeDocument/2006/relationships/hyperlink" Target="https://doi.org/10.1191/1478088706qp063oa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6.xml"/><Relationship Id="rId2" Type="http://schemas.openxmlformats.org/officeDocument/2006/relationships/hyperlink" Target="https://doi.org/10.1057/s41599-025-05982-7" TargetMode="External"/><Relationship Id="rId1" Type="http://schemas.openxmlformats.org/officeDocument/2006/relationships/hyperlink" Target="https://doi.org/10.26180/27915930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6.xml"/><Relationship Id="rId6" Type="http://schemas.openxmlformats.org/officeDocument/2006/relationships/hyperlink" Target="https://github.com/LionChenA/ads401/tree/main/assets/pre2/materials" TargetMode="External"/><Relationship Id="rId5" Type="http://schemas.openxmlformats.org/officeDocument/2006/relationships/hyperlink" Target="https://github.com/LionChenA/ads401/blob/main/assets/pre2/materials/reference.md" TargetMode="External"/><Relationship Id="rId4" Type="http://schemas.openxmlformats.org/officeDocument/2006/relationships/hyperlink" Target="https://github.com/LionChenA/ads401/blob/main/assets/pre2/materials/survey/questionnaire_v1_flow_fig.svg" TargetMode="External"/><Relationship Id="rId3" Type="http://schemas.openxmlformats.org/officeDocument/2006/relationships/hyperlink" Target="https://github.com/LionChenA/ads401/blob/main/assets/pre2/materials/survey/questionnaire_v1_flow.md" TargetMode="External"/><Relationship Id="rId2" Type="http://schemas.openxmlformats.org/officeDocument/2006/relationships/hyperlink" Target="https://github.com/LionChenA/ads401/blob/main/assets/pre2/materials/survey/questionnaire_v1.md" TargetMode="External"/><Relationship Id="rId1" Type="http://schemas.openxmlformats.org/officeDocument/2006/relationships/hyperlink" Target="https://github.com/LionChenA/ads401/blob/main/assets/pre2/scripts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Main title"/>
          <p:cNvSpPr>
            <a:spLocks noGrp="1"/>
          </p:cNvSpPr>
          <p:nvPr/>
        </p:nvSpPr>
        <p:spPr>
          <a:xfrm>
            <a:off x="571500" y="1466850"/>
            <a:ext cx="110490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4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buNone/>
              <a:defRPr sz="4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buNone/>
              <a:defRPr sz="4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buNone/>
              <a:defRPr sz="4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buNone/>
              <a:defRPr sz="4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buNone/>
              <a:defRPr sz="4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buNone/>
              <a:defRPr sz="4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buNone/>
              <a:defRPr sz="4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buNone/>
              <a:defRPr sz="4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buNone/>
              <a:defRPr sz="4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buNone/>
              <a:defRPr sz="4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Evaluating AI Integration at XJTLU</a:t>
            </a:r>
            <a:endParaRPr sz="4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Subtitle"/>
          <p:cNvSpPr>
            <a:spLocks noGrp="1"/>
          </p:cNvSpPr>
          <p:nvPr/>
        </p:nvSpPr>
        <p:spPr>
          <a:xfrm>
            <a:off x="571500" y="2409825"/>
            <a:ext cx="110490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buNone/>
              <a:def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buNone/>
              <a:def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buNone/>
              <a:def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buNone/>
              <a:def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buNone/>
              <a:def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buNone/>
              <a:def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buNone/>
              <a:def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buNone/>
              <a:def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buNone/>
              <a:def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buNone/>
              <a:def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ADS401 Students' Perspective</a:t>
            </a:r>
            <a:endParaRPr sz="3300" b="0">
              <a:solidFill>
                <a:srgbClr val="44444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300" b="0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on AI Agents at XJTLU</a:t>
            </a:r>
            <a:endParaRPr sz="3300" b="0">
              <a:solidFill>
                <a:srgbClr val="444444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Group members"/>
          <p:cNvSpPr>
            <a:spLocks noGrp="1"/>
          </p:cNvSpPr>
          <p:nvPr/>
        </p:nvSpPr>
        <p:spPr>
          <a:xfrm>
            <a:off x="571500" y="4276725"/>
            <a:ext cx="11049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buNone/>
              <a:def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buNone/>
              <a:def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buNone/>
              <a:def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buNone/>
              <a:def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buNone/>
              <a:def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buNone/>
              <a:def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buNone/>
              <a:def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buNone/>
              <a:def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buNone/>
              <a:def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buNone/>
              <a:def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Group A · Hongcheng TANG · Mingjian TAO · Liyuan CHEN · Haode SHEN</a:t>
            </a:r>
            <a:endParaRPr sz="21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Project resource label"/>
          <p:cNvSpPr>
            <a:spLocks noGrp="1"/>
          </p:cNvSpPr>
          <p:nvPr/>
        </p:nvSpPr>
        <p:spPr>
          <a:xfrm>
            <a:off x="571500" y="5219700"/>
            <a:ext cx="1104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700" b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buNone/>
              <a:defRPr sz="1700" b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buNone/>
              <a:defRPr sz="1700" b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buNone/>
              <a:defRPr sz="1700" b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buNone/>
              <a:defRPr sz="1700" b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buNone/>
              <a:defRPr sz="1700" b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buNone/>
              <a:defRPr sz="1700" b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buNone/>
              <a:defRPr sz="1700" b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buNone/>
              <a:defRPr sz="1700" b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buNone/>
              <a:defRPr sz="1700" b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buNone/>
              <a:defRPr sz="1700" b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700" b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Project resource</a:t>
            </a:r>
            <a:endParaRPr sz="1700" b="1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Project resource"/>
          <p:cNvSpPr>
            <a:spLocks noGrp="1"/>
          </p:cNvSpPr>
          <p:nvPr/>
        </p:nvSpPr>
        <p:spPr>
          <a:xfrm>
            <a:off x="571500" y="561975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0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buNone/>
              <a:defRPr sz="20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buNone/>
              <a:defRPr sz="20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buNone/>
              <a:defRPr sz="20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buNone/>
              <a:defRPr sz="20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buNone/>
              <a:defRPr sz="20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buNone/>
              <a:defRPr sz="20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buNone/>
              <a:defRPr sz="20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buNone/>
              <a:defRPr sz="20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buNone/>
              <a:defRPr sz="20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buNone/>
              <a:defRPr sz="20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 u="sng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/>
              </a:rPr>
              <a:t>https://lionchena.github.io/ads401/</a:t>
            </a:r>
            <a:endParaRPr sz="2000" b="0" u="sng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1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ADS401 Students' Perspective on AI Agents at XJTLU"/>
          <p:cNvSpPr>
            <a:spLocks noGrp="1"/>
          </p:cNvSpPr>
          <p:nvPr/>
        </p:nvSpPr>
        <p:spPr>
          <a:xfrm>
            <a:off x="504825" y="257175"/>
            <a:ext cx="11182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ADS401 Students' Perspective on AI Agents at XJTLU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Background"/>
          <p:cNvSpPr>
            <a:spLocks noGrp="1"/>
          </p:cNvSpPr>
          <p:nvPr/>
        </p:nvSpPr>
        <p:spPr>
          <a:xfrm>
            <a:off x="504825" y="657225"/>
            <a:ext cx="111823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Background</a:t>
            </a:r>
            <a:endParaRPr sz="3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04825" y="13525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04825" y="624840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5" name="01 / 08"/>
          <p:cNvSpPr>
            <a:spLocks noGrp="1"/>
          </p:cNvSpPr>
          <p:nvPr/>
        </p:nvSpPr>
        <p:spPr>
          <a:xfrm>
            <a:off x="11144250" y="6572250"/>
            <a:ext cx="714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 / 09</a:t>
            </a:r>
            <a:endParaRPr sz="11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search Background"/>
          <p:cNvSpPr>
            <a:spLocks noGrp="1"/>
          </p:cNvSpPr>
          <p:nvPr/>
        </p:nvSpPr>
        <p:spPr>
          <a:xfrm>
            <a:off x="733425" y="2000250"/>
            <a:ext cx="4876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4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Research Background</a:t>
            </a:r>
            <a:endParaRPr sz="24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Research Motivation &amp; Aim"/>
          <p:cNvSpPr>
            <a:spLocks noGrp="1"/>
          </p:cNvSpPr>
          <p:nvPr/>
        </p:nvSpPr>
        <p:spPr>
          <a:xfrm>
            <a:off x="6581775" y="2000250"/>
            <a:ext cx="4876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4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Research Motivation &amp; Aim</a:t>
            </a:r>
            <a:endParaRPr sz="24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XJTLU provides AI services such as Junmou AI to support learning. Howe"/>
          <p:cNvSpPr>
            <a:spLocks noGrp="1"/>
          </p:cNvSpPr>
          <p:nvPr/>
        </p:nvSpPr>
        <p:spPr>
          <a:xfrm>
            <a:off x="733425" y="2705100"/>
            <a:ext cx="48768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2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XJTLU provides AI services such as Junmou AI to support learning. However, ADS401 students’ awareness, adoption, and use remain unclear.</a:t>
            </a:r>
            <a:endParaRPr sz="22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This study explores ADS401 students’ use or non-use of XJTLU AI and th"/>
          <p:cNvSpPr>
            <a:spLocks noGrp="1"/>
          </p:cNvSpPr>
          <p:nvPr/>
        </p:nvSpPr>
        <p:spPr>
          <a:xfrm>
            <a:off x="6581775" y="2705100"/>
            <a:ext cx="4876800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1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2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This study explores ADS401 students’ use or non-use of XJTLU AI and the reasons behind their choices, to inform future improvements to these tools.</a:t>
            </a:r>
            <a:endParaRPr sz="22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Content divider"/>
          <p:cNvSpPr>
            <a:spLocks noGrp="1"/>
          </p:cNvSpPr>
          <p:nvPr/>
        </p:nvSpPr>
        <p:spPr>
          <a:xfrm>
            <a:off x="6096000" y="1905000"/>
            <a:ext cx="0" cy="3286125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ADS401 Students' Perspective on AI Agents at XJTLU"/>
          <p:cNvSpPr>
            <a:spLocks noGrp="1"/>
          </p:cNvSpPr>
          <p:nvPr/>
        </p:nvSpPr>
        <p:spPr>
          <a:xfrm>
            <a:off x="504825" y="257175"/>
            <a:ext cx="11182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ADS401 Students' Perspective on AI Agents at XJTLU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search Questions"/>
          <p:cNvSpPr>
            <a:spLocks noGrp="1"/>
          </p:cNvSpPr>
          <p:nvPr/>
        </p:nvSpPr>
        <p:spPr>
          <a:xfrm>
            <a:off x="504825" y="657225"/>
            <a:ext cx="111823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Research Questions</a:t>
            </a:r>
            <a:endParaRPr sz="3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04825" y="13525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04825" y="59626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6" name="02 / 08"/>
          <p:cNvSpPr>
            <a:spLocks noGrp="1"/>
          </p:cNvSpPr>
          <p:nvPr/>
        </p:nvSpPr>
        <p:spPr>
          <a:xfrm>
            <a:off x="11144250" y="6572250"/>
            <a:ext cx="714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 / 09</a:t>
            </a:r>
            <a:endParaRPr sz="11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Q1"/>
          <p:cNvSpPr>
            <a:spLocks noGrp="1"/>
          </p:cNvSpPr>
          <p:nvPr/>
        </p:nvSpPr>
        <p:spPr>
          <a:xfrm>
            <a:off x="504825" y="1704975"/>
            <a:ext cx="1000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6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RQ1</a:t>
            </a:r>
            <a:endParaRPr sz="26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Awareness &amp; Adoption"/>
          <p:cNvSpPr>
            <a:spLocks noGrp="1"/>
          </p:cNvSpPr>
          <p:nvPr/>
        </p:nvSpPr>
        <p:spPr>
          <a:xfrm>
            <a:off x="1743075" y="1704975"/>
            <a:ext cx="9906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Awareness &amp; Adoption</a:t>
            </a:r>
            <a:endParaRPr sz="21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To what extent are students in our ADS401 module aware of and adopting"/>
          <p:cNvSpPr>
            <a:spLocks noGrp="1"/>
          </p:cNvSpPr>
          <p:nvPr/>
        </p:nvSpPr>
        <p:spPr>
          <a:xfrm>
            <a:off x="1743075" y="2133600"/>
            <a:ext cx="9906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 what extent are students in our ADS401 module aware of and adopting XJTLU AI?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1743075" y="2857500"/>
            <a:ext cx="994410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11" name="RQ2"/>
          <p:cNvSpPr>
            <a:spLocks noGrp="1"/>
          </p:cNvSpPr>
          <p:nvPr/>
        </p:nvSpPr>
        <p:spPr>
          <a:xfrm>
            <a:off x="504825" y="3000375"/>
            <a:ext cx="1000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6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RQ2</a:t>
            </a:r>
            <a:endParaRPr sz="26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Usage Patterns"/>
          <p:cNvSpPr>
            <a:spLocks noGrp="1"/>
          </p:cNvSpPr>
          <p:nvPr/>
        </p:nvSpPr>
        <p:spPr>
          <a:xfrm>
            <a:off x="1743075" y="3000375"/>
            <a:ext cx="9906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Usage Patterns</a:t>
            </a:r>
            <a:endParaRPr sz="21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How do students in ADS401 use XJTLU AI for their academic tasks?"/>
          <p:cNvSpPr>
            <a:spLocks noGrp="1"/>
          </p:cNvSpPr>
          <p:nvPr/>
        </p:nvSpPr>
        <p:spPr>
          <a:xfrm>
            <a:off x="1743075" y="3429000"/>
            <a:ext cx="9906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How do students in ADS401 use XJTLU AI for their academic tasks?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1743075" y="4152900"/>
            <a:ext cx="994410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15" name="RQ3"/>
          <p:cNvSpPr>
            <a:spLocks noGrp="1"/>
          </p:cNvSpPr>
          <p:nvPr/>
        </p:nvSpPr>
        <p:spPr>
          <a:xfrm>
            <a:off x="504825" y="4295775"/>
            <a:ext cx="1000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6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6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6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RQ3</a:t>
            </a:r>
            <a:endParaRPr sz="26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Adoption Factors &amp; Perceived Comparison"/>
          <p:cNvSpPr>
            <a:spLocks noGrp="1"/>
          </p:cNvSpPr>
          <p:nvPr/>
        </p:nvSpPr>
        <p:spPr>
          <a:xfrm>
            <a:off x="1743075" y="4295775"/>
            <a:ext cx="9906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Adoption Factors &amp; Perceived Comparison</a:t>
            </a:r>
            <a:endParaRPr sz="21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What perceived benefits, barriers, and differences between XJTLU AI an"/>
          <p:cNvSpPr>
            <a:spLocks noGrp="1"/>
          </p:cNvSpPr>
          <p:nvPr/>
        </p:nvSpPr>
        <p:spPr>
          <a:xfrm>
            <a:off x="1743075" y="4724400"/>
            <a:ext cx="99060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What perceived benefits, barriers, and differences between XJTLU AI and external AI services are associated with students' adoption and intentions to continue, try, or resume using XJTLU AI?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Perceived usefulness, perceived ease of use, and user accept"/>
          <p:cNvSpPr>
            <a:spLocks noGrp="1"/>
          </p:cNvSpPr>
          <p:nvPr/>
        </p:nvSpPr>
        <p:spPr>
          <a:xfrm>
            <a:off x="504825" y="60388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Perceived usefulness, perceived ease of use, and user acceptance of information technology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Davis, F. D. (1989). </a:t>
            </a:r>
            <a:r>
              <a:rPr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/>
              </a:rPr>
              <a:t>MIS Quarterly</a:t>
            </a:r>
            <a:endParaRPr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1"/>
            </a:endParaRPr>
          </a:p>
        </p:txBody>
      </p:sp>
      <p:sp>
        <p:nvSpPr>
          <p:cNvPr id="20" name="To adopt or to ban? Student perceptions and use of generativ"/>
          <p:cNvSpPr>
            <a:spLocks noGrp="1"/>
          </p:cNvSpPr>
          <p:nvPr/>
        </p:nvSpPr>
        <p:spPr>
          <a:xfrm>
            <a:off x="504825" y="64198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 adopt or to ban? Student perceptions and use of generative AI in higher education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Farinosi, M., &amp; Melchior, C. (2025). </a:t>
            </a:r>
            <a:r>
              <a:rPr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/>
              </a:rPr>
              <a:t>Humanities and Social Sciences Communications</a:t>
            </a:r>
            <a:endParaRPr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ADS401 Students' Perspective on AI Agents at XJTLU"/>
          <p:cNvSpPr>
            <a:spLocks noGrp="1"/>
          </p:cNvSpPr>
          <p:nvPr/>
        </p:nvSpPr>
        <p:spPr>
          <a:xfrm>
            <a:off x="504825" y="257175"/>
            <a:ext cx="11182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ADS401 Students' Perspective on AI Agents at XJTLU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Research Methodology"/>
          <p:cNvSpPr>
            <a:spLocks noGrp="1"/>
          </p:cNvSpPr>
          <p:nvPr/>
        </p:nvSpPr>
        <p:spPr>
          <a:xfrm>
            <a:off x="504825" y="657225"/>
            <a:ext cx="111823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Research Methodology</a:t>
            </a:r>
            <a:endParaRPr sz="3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04825" y="13525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04825" y="624840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6" name="03 / 08"/>
          <p:cNvSpPr>
            <a:spLocks noGrp="1"/>
          </p:cNvSpPr>
          <p:nvPr/>
        </p:nvSpPr>
        <p:spPr>
          <a:xfrm>
            <a:off x="11144250" y="6572250"/>
            <a:ext cx="714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 / 09</a:t>
            </a:r>
            <a:endParaRPr sz="11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Explanatory Sequential Mixed-Methods Design"/>
          <p:cNvSpPr>
            <a:spLocks noGrp="1"/>
          </p:cNvSpPr>
          <p:nvPr/>
        </p:nvSpPr>
        <p:spPr>
          <a:xfrm>
            <a:off x="504825" y="1752600"/>
            <a:ext cx="111823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Explanatory Sequential Mixed-Methods Design</a:t>
            </a:r>
            <a:endParaRPr sz="25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Target Participants"/>
          <p:cNvSpPr>
            <a:spLocks noGrp="1"/>
          </p:cNvSpPr>
          <p:nvPr/>
        </p:nvSpPr>
        <p:spPr>
          <a:xfrm>
            <a:off x="504825" y="2495550"/>
            <a:ext cx="111823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Target Participants</a:t>
            </a:r>
            <a:endParaRPr sz="21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50"/>
          <p:cNvSpPr>
            <a:spLocks noGrp="1"/>
          </p:cNvSpPr>
          <p:nvPr/>
        </p:nvSpPr>
        <p:spPr>
          <a:xfrm>
            <a:off x="504825" y="3105150"/>
            <a:ext cx="34766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50</a:t>
            </a:r>
            <a:endParaRPr sz="45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enrolled"/>
          <p:cNvSpPr>
            <a:spLocks noGrp="1"/>
          </p:cNvSpPr>
          <p:nvPr/>
        </p:nvSpPr>
        <p:spPr>
          <a:xfrm>
            <a:off x="504825" y="4010025"/>
            <a:ext cx="352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enrolled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Participant sequence"/>
          <p:cNvSpPr>
            <a:spLocks noGrp="1"/>
          </p:cNvSpPr>
          <p:nvPr/>
        </p:nvSpPr>
        <p:spPr>
          <a:xfrm>
            <a:off x="3600450" y="3381375"/>
            <a:ext cx="333375" cy="180975"/>
          </a:xfrm>
          <a:prstGeom prst="rightArrow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2" name="4"/>
          <p:cNvSpPr>
            <a:spLocks noGrp="1"/>
          </p:cNvSpPr>
          <p:nvPr/>
        </p:nvSpPr>
        <p:spPr>
          <a:xfrm>
            <a:off x="4362450" y="3105150"/>
            <a:ext cx="34766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5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sz="45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researchers excluded"/>
          <p:cNvSpPr>
            <a:spLocks noGrp="1"/>
          </p:cNvSpPr>
          <p:nvPr/>
        </p:nvSpPr>
        <p:spPr>
          <a:xfrm>
            <a:off x="4362450" y="4010025"/>
            <a:ext cx="352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researchers excluded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Participant sequence"/>
          <p:cNvSpPr>
            <a:spLocks noGrp="1"/>
          </p:cNvSpPr>
          <p:nvPr/>
        </p:nvSpPr>
        <p:spPr>
          <a:xfrm>
            <a:off x="7458075" y="3381375"/>
            <a:ext cx="333375" cy="180975"/>
          </a:xfrm>
          <a:prstGeom prst="rightArrow">
            <a:avLst/>
          </a:prstGeom>
          <a:solidFill>
            <a:srgbClr val="CCCCCC"/>
          </a:solidFill>
          <a:ln w="0">
            <a:noFill/>
          </a:ln>
        </p:spPr>
      </p:sp>
      <p:sp>
        <p:nvSpPr>
          <p:cNvPr id="15" name="46"/>
          <p:cNvSpPr>
            <a:spLocks noGrp="1"/>
          </p:cNvSpPr>
          <p:nvPr/>
        </p:nvSpPr>
        <p:spPr>
          <a:xfrm>
            <a:off x="8220075" y="3105150"/>
            <a:ext cx="34766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5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45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5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46</a:t>
            </a:r>
            <a:endParaRPr sz="45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potentially eligible invitees"/>
          <p:cNvSpPr>
            <a:spLocks noGrp="1"/>
          </p:cNvSpPr>
          <p:nvPr/>
        </p:nvSpPr>
        <p:spPr>
          <a:xfrm>
            <a:off x="8220075" y="4010025"/>
            <a:ext cx="3524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potentially eligible invitees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Voluntary survey participation"/>
          <p:cNvSpPr>
            <a:spLocks noGrp="1"/>
          </p:cNvSpPr>
          <p:nvPr/>
        </p:nvSpPr>
        <p:spPr>
          <a:xfrm>
            <a:off x="504825" y="469582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Voluntary survey participation</a:t>
            </a:r>
            <a:endParaRPr sz="21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Achieved sample to be reported after collection."/>
          <p:cNvSpPr>
            <a:spLocks noGrp="1"/>
          </p:cNvSpPr>
          <p:nvPr/>
        </p:nvSpPr>
        <p:spPr>
          <a:xfrm>
            <a:off x="6477000" y="4695825"/>
            <a:ext cx="514350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Achieved sample to be reported after collection.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he survey identifies how students use different AI services, while fo"/>
          <p:cNvSpPr>
            <a:spLocks noGrp="1"/>
          </p:cNvSpPr>
          <p:nvPr/>
        </p:nvSpPr>
        <p:spPr>
          <a:xfrm>
            <a:off x="723900" y="5524500"/>
            <a:ext cx="109632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 i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survey identifies how students use different AI services, while follow-up interviews explore why they make those choices.</a:t>
            </a:r>
            <a:endParaRPr sz="2000" b="0" i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Quotation left rule"/>
          <p:cNvSpPr>
            <a:spLocks noGrp="1"/>
          </p:cNvSpPr>
          <p:nvPr/>
        </p:nvSpPr>
        <p:spPr>
          <a:xfrm>
            <a:off x="504825" y="5553075"/>
            <a:ext cx="0" cy="561975"/>
          </a:xfrm>
          <a:prstGeom prst="line">
            <a:avLst/>
          </a:prstGeom>
          <a:ln w="38100">
            <a:solidFill>
              <a:srgbClr val="007A9E"/>
            </a:solidFill>
          </a:ln>
        </p:spPr>
      </p:sp>
      <p:sp>
        <p:nvSpPr>
          <p:cNvPr id="22" name="Using mixed-methods sequential explanatory design: From theo"/>
          <p:cNvSpPr>
            <a:spLocks noGrp="1"/>
          </p:cNvSpPr>
          <p:nvPr/>
        </p:nvSpPr>
        <p:spPr>
          <a:xfrm>
            <a:off x="504825" y="6353175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Using mixed-methods sequential explanatory design: From theory to practice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Ivankova, N. V., Creswell, J. W., &amp; Stick, S. L. (2006). </a:t>
            </a:r>
            <a:r>
              <a:rPr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/>
              </a:rPr>
              <a:t>Field Methods</a:t>
            </a:r>
            <a:endParaRPr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1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ADS401 Students' Perspective on AI Agents at XJTLU"/>
          <p:cNvSpPr>
            <a:spLocks noGrp="1"/>
          </p:cNvSpPr>
          <p:nvPr/>
        </p:nvSpPr>
        <p:spPr>
          <a:xfrm>
            <a:off x="504825" y="257175"/>
            <a:ext cx="11182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ADS401 Students' Perspective on AI Agents at XJTLU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Survey Design"/>
          <p:cNvSpPr>
            <a:spLocks noGrp="1"/>
          </p:cNvSpPr>
          <p:nvPr/>
        </p:nvSpPr>
        <p:spPr>
          <a:xfrm>
            <a:off x="504825" y="657225"/>
            <a:ext cx="111823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Survey Design</a:t>
            </a:r>
            <a:endParaRPr sz="3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04825" y="13525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04825" y="59626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6" name="04 / 08"/>
          <p:cNvSpPr>
            <a:spLocks noGrp="1"/>
          </p:cNvSpPr>
          <p:nvPr/>
        </p:nvSpPr>
        <p:spPr>
          <a:xfrm>
            <a:off x="11144250" y="6572250"/>
            <a:ext cx="714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 / 09</a:t>
            </a:r>
            <a:endParaRPr sz="11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Planned grouping by reported AI use for ADS401 in the past four weeks:"/>
          <p:cNvSpPr>
            <a:spLocks noGrp="1"/>
          </p:cNvSpPr>
          <p:nvPr/>
        </p:nvSpPr>
        <p:spPr>
          <a:xfrm>
            <a:off x="504825" y="2095500"/>
            <a:ext cx="5143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Planned grouping by reported AI use for ADS401 in the past four weeks: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G1"/>
          <p:cNvSpPr>
            <a:spLocks noGrp="1"/>
          </p:cNvSpPr>
          <p:nvPr/>
        </p:nvSpPr>
        <p:spPr>
          <a:xfrm>
            <a:off x="504825" y="2857500"/>
            <a:ext cx="6191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G1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Both AI"/>
          <p:cNvSpPr>
            <a:spLocks noGrp="1"/>
          </p:cNvSpPr>
          <p:nvPr/>
        </p:nvSpPr>
        <p:spPr>
          <a:xfrm>
            <a:off x="1381125" y="2857500"/>
            <a:ext cx="43148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Both AI</a:t>
            </a:r>
            <a:endParaRPr sz="21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504825" y="3228975"/>
            <a:ext cx="5191125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11" name="G2"/>
          <p:cNvSpPr>
            <a:spLocks noGrp="1"/>
          </p:cNvSpPr>
          <p:nvPr/>
        </p:nvSpPr>
        <p:spPr>
          <a:xfrm>
            <a:off x="504825" y="3257550"/>
            <a:ext cx="6191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G2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Other AI Only"/>
          <p:cNvSpPr>
            <a:spLocks noGrp="1"/>
          </p:cNvSpPr>
          <p:nvPr/>
        </p:nvSpPr>
        <p:spPr>
          <a:xfrm>
            <a:off x="1381125" y="3257550"/>
            <a:ext cx="43148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Other AI Only</a:t>
            </a:r>
            <a:endParaRPr sz="21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504825" y="3629025"/>
            <a:ext cx="5191125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14" name="G3"/>
          <p:cNvSpPr>
            <a:spLocks noGrp="1"/>
          </p:cNvSpPr>
          <p:nvPr/>
        </p:nvSpPr>
        <p:spPr>
          <a:xfrm>
            <a:off x="504825" y="3657600"/>
            <a:ext cx="6191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G3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No AI"/>
          <p:cNvSpPr>
            <a:spLocks noGrp="1"/>
          </p:cNvSpPr>
          <p:nvPr/>
        </p:nvSpPr>
        <p:spPr>
          <a:xfrm>
            <a:off x="1381125" y="3657600"/>
            <a:ext cx="43148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 AI</a:t>
            </a:r>
            <a:endParaRPr sz="21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504825" y="4029075"/>
            <a:ext cx="5191125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17" name="G4"/>
          <p:cNvSpPr>
            <a:spLocks noGrp="1"/>
          </p:cNvSpPr>
          <p:nvPr/>
        </p:nvSpPr>
        <p:spPr>
          <a:xfrm>
            <a:off x="504825" y="4057650"/>
            <a:ext cx="6191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1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G4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XJTLU AI Only"/>
          <p:cNvSpPr>
            <a:spLocks noGrp="1"/>
          </p:cNvSpPr>
          <p:nvPr/>
        </p:nvSpPr>
        <p:spPr>
          <a:xfrm>
            <a:off x="1381125" y="4057650"/>
            <a:ext cx="431482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XJTLU AI Only</a:t>
            </a:r>
            <a:endParaRPr sz="21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Various academic activity categories will be used for consistent compa"/>
          <p:cNvSpPr>
            <a:spLocks noGrp="1"/>
          </p:cNvSpPr>
          <p:nvPr/>
        </p:nvSpPr>
        <p:spPr>
          <a:xfrm>
            <a:off x="504825" y="4581525"/>
            <a:ext cx="51435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Various academic activity categories will be used for consistent comparison.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Cross-sectional online questionnaire targeting ADS401 students."/>
          <p:cNvSpPr>
            <a:spLocks noGrp="1"/>
          </p:cNvSpPr>
          <p:nvPr/>
        </p:nvSpPr>
        <p:spPr>
          <a:xfrm>
            <a:off x="504825" y="1600200"/>
            <a:ext cx="111823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1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950" b="1">
                <a:solidFill>
                  <a:srgbClr val="444444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Cross-sectional online questionnaire targeting ADS401 students.</a:t>
            </a:r>
            <a:endParaRPr sz="21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Measures:"/>
          <p:cNvSpPr>
            <a:spLocks noGrp="1"/>
          </p:cNvSpPr>
          <p:nvPr/>
        </p:nvSpPr>
        <p:spPr>
          <a:xfrm>
            <a:off x="6334125" y="2095500"/>
            <a:ext cx="528637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950" b="1">
                <a:solidFill>
                  <a:srgbClr val="0033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Measures: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Usefulness and ease-of-use items are treated as exploratory, context-s"/>
          <p:cNvSpPr>
            <a:spLocks noGrp="1"/>
          </p:cNvSpPr>
          <p:nvPr/>
        </p:nvSpPr>
        <p:spPr>
          <a:xfrm>
            <a:off x="6334125" y="4552950"/>
            <a:ext cx="5286375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Usefulness and ease-of-use items: exploratory, context-specific measures; not complete validated TAM scales.</a:t>
            </a:r>
            <a:endParaRPr sz="18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7" name="TAM (Technology Acceptance Model): validated usefulness and "/>
          <p:cNvSpPr>
            <a:spLocks noGrp="1"/>
          </p:cNvSpPr>
          <p:nvPr/>
        </p:nvSpPr>
        <p:spPr>
          <a:xfrm>
            <a:off x="504825" y="5381625"/>
            <a:ext cx="111823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0" i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ctr">
              <a:buNone/>
              <a:defRPr sz="1425" b="0" i="1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ctr">
              <a:buNone/>
              <a:defRPr sz="1425" b="0" i="1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ctr">
              <a:buNone/>
              <a:defRPr sz="1425" b="0" i="1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ctr">
              <a:buNone/>
              <a:defRPr sz="1425" b="0" i="1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ctr">
              <a:buNone/>
              <a:defRPr sz="1425" b="0" i="1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ctr">
              <a:buNone/>
              <a:defRPr sz="1425" b="0" i="1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ctr">
              <a:buNone/>
              <a:defRPr sz="1425" b="0" i="1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ctr">
              <a:buNone/>
              <a:defRPr sz="1425" b="0" i="1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ctr">
              <a:buNone/>
              <a:defRPr sz="1425" b="0" i="1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ctr">
              <a:buNone/>
              <a:defRPr sz="1800" b="0" i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0" i="1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TAM (Technology Acceptance Model): validated usefulness and ease-of-use scales (Davis, 1989); these constructs inform XJTLU AI items.</a:t>
            </a:r>
            <a:endParaRPr sz="1800" b="0" i="1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1" name="Student perspectives on AI in Higher Education: Student Surv"/>
          <p:cNvSpPr>
            <a:spLocks noGrp="1"/>
          </p:cNvSpPr>
          <p:nvPr/>
        </p:nvSpPr>
        <p:spPr>
          <a:xfrm>
            <a:off x="504825" y="60388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Student perspectives on AI in Higher Education: Student Survey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Chung, J., et al. (2024). </a:t>
            </a:r>
            <a:r>
              <a:rPr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/>
              </a:rPr>
              <a:t>Monash University</a:t>
            </a:r>
            <a:endParaRPr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1"/>
            </a:endParaRPr>
          </a:p>
        </p:txBody>
      </p:sp>
      <p:sp>
        <p:nvSpPr>
          <p:cNvPr id="42" name="Perceived usefulness, perceived ease of use, and user accept"/>
          <p:cNvSpPr>
            <a:spLocks noGrp="1"/>
          </p:cNvSpPr>
          <p:nvPr/>
        </p:nvSpPr>
        <p:spPr>
          <a:xfrm>
            <a:off x="504825" y="64198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Perceived usefulness, perceived ease of use, and user acceptance of information technology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Davis, F. D. (1989). </a:t>
            </a:r>
            <a:r>
              <a:rPr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/>
              </a:rPr>
              <a:t>MIS Quarterly</a:t>
            </a:r>
            <a:endParaRPr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2"/>
            </a:endParaRPr>
          </a:p>
        </p:txBody>
      </p:sp>
      <p:sp>
        <p:nvSpPr>
          <p:cNvPr id="43" name="Measures column"/>
          <p:cNvSpPr>
            <a:spLocks noGrp="1"/>
          </p:cNvSpPr>
          <p:nvPr/>
        </p:nvSpPr>
        <p:spPr>
          <a:xfrm>
            <a:off x="6334125" y="2543175"/>
            <a:ext cx="2686050" cy="1952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203200" indent="-114300">
              <a:spcAft>
                <a:spcPts val="200"/>
              </a:spcAft>
              <a:buChar char="•"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Awareness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03200" indent="-114300">
              <a:spcAft>
                <a:spcPts val="200"/>
              </a:spcAft>
              <a:buChar char="•"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Ever-use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03200" indent="-114300">
              <a:spcAft>
                <a:spcPts val="200"/>
              </a:spcAft>
              <a:buChar char="•"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Recent Academic Usage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03200" indent="-114300">
              <a:spcAft>
                <a:spcPts val="200"/>
              </a:spcAft>
              <a:buChar char="•"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Perceived Usefulness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4" name="Measures column"/>
          <p:cNvSpPr>
            <a:spLocks noGrp="1"/>
          </p:cNvSpPr>
          <p:nvPr/>
        </p:nvSpPr>
        <p:spPr>
          <a:xfrm>
            <a:off x="9124950" y="2543175"/>
            <a:ext cx="2562225" cy="1952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203200" indent="-114300">
              <a:spcAft>
                <a:spcPts val="200"/>
              </a:spcAft>
              <a:buChar char="•"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Ease of Use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03200" indent="-114300">
              <a:spcAft>
                <a:spcPts val="200"/>
              </a:spcAft>
              <a:buChar char="•"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Trust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03200" indent="-114300">
              <a:spcAft>
                <a:spcPts val="200"/>
              </a:spcAft>
              <a:buChar char="•"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Barriers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03200" indent="-114300">
              <a:spcAft>
                <a:spcPts val="200"/>
              </a:spcAft>
              <a:buChar char="•"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Future-use Intentions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ADS401 Students' Perspective on AI Agents at XJTLU"/>
          <p:cNvSpPr>
            <a:spLocks noGrp="1"/>
          </p:cNvSpPr>
          <p:nvPr/>
        </p:nvSpPr>
        <p:spPr>
          <a:xfrm>
            <a:off x="504825" y="257175"/>
            <a:ext cx="11182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ADS401 Students' Perspective on AI Agents at XJTLU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Data Analysis"/>
          <p:cNvSpPr>
            <a:spLocks noGrp="1"/>
          </p:cNvSpPr>
          <p:nvPr/>
        </p:nvSpPr>
        <p:spPr>
          <a:xfrm>
            <a:off x="504825" y="657225"/>
            <a:ext cx="111823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Data Analysis</a:t>
            </a:r>
            <a:endParaRPr sz="3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04825" y="13525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04825" y="59626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6" name="05 / 08"/>
          <p:cNvSpPr>
            <a:spLocks noGrp="1"/>
          </p:cNvSpPr>
          <p:nvPr/>
        </p:nvSpPr>
        <p:spPr>
          <a:xfrm>
            <a:off x="11144250" y="6572250"/>
            <a:ext cx="714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 / 09</a:t>
            </a:r>
            <a:endParaRPr sz="11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Descriptive Statistics:"/>
          <p:cNvSpPr>
            <a:spLocks noGrp="1"/>
          </p:cNvSpPr>
          <p:nvPr/>
        </p:nvSpPr>
        <p:spPr>
          <a:xfrm>
            <a:off x="504825" y="1695450"/>
            <a:ext cx="3048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900" b="1">
                <a:solidFill>
                  <a:srgbClr val="0033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Descriptive Statistics: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port counts and percentages for awareness, ever-use, and past-four-w"/>
          <p:cNvSpPr>
            <a:spLocks noGrp="1"/>
          </p:cNvSpPr>
          <p:nvPr/>
        </p:nvSpPr>
        <p:spPr>
          <a:xfrm>
            <a:off x="3714750" y="1695450"/>
            <a:ext cx="7972425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Report counts and percentages for awareness, ever-use, and past-four-week usage, with the relevant response denominator for each item.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Cross-tabulation:"/>
          <p:cNvSpPr>
            <a:spLocks noGrp="1"/>
          </p:cNvSpPr>
          <p:nvPr/>
        </p:nvSpPr>
        <p:spPr>
          <a:xfrm>
            <a:off x="504825" y="2743200"/>
            <a:ext cx="3048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900" b="1">
                <a:solidFill>
                  <a:srgbClr val="0033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Cross-tabulation: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Compare usage patterns across four groups."/>
          <p:cNvSpPr>
            <a:spLocks noGrp="1"/>
          </p:cNvSpPr>
          <p:nvPr/>
        </p:nvSpPr>
        <p:spPr>
          <a:xfrm>
            <a:off x="3714750" y="2743200"/>
            <a:ext cx="7972425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Compare usage patterns across four groups.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Rating Analysis:"/>
          <p:cNvSpPr>
            <a:spLocks noGrp="1"/>
          </p:cNvSpPr>
          <p:nvPr/>
        </p:nvSpPr>
        <p:spPr>
          <a:xfrm>
            <a:off x="504825" y="3790950"/>
            <a:ext cx="3048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900" b="1">
                <a:solidFill>
                  <a:srgbClr val="0033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Rating Analysis: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Summarise activity-specific usefulness, usefulness/ease-of-use/trust i"/>
          <p:cNvSpPr>
            <a:spLocks noGrp="1"/>
          </p:cNvSpPr>
          <p:nvPr/>
        </p:nvSpPr>
        <p:spPr>
          <a:xfrm>
            <a:off x="3714750" y="3790950"/>
            <a:ext cx="7972425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Summarise activity-specific usefulness, usefulness/ease-of-use/trust items, and future-use intentions descriptively; exclude N/A from rating summaries.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Perceived Comparison:"/>
          <p:cNvSpPr>
            <a:spLocks noGrp="1"/>
          </p:cNvSpPr>
          <p:nvPr/>
        </p:nvSpPr>
        <p:spPr>
          <a:xfrm>
            <a:off x="504825" y="4838700"/>
            <a:ext cx="3048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9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900" b="1">
                <a:solidFill>
                  <a:srgbClr val="0033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Perceived Comparison: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Examine paired activity ratings only where dual users rated both tools"/>
          <p:cNvSpPr>
            <a:spLocks noGrp="1"/>
          </p:cNvSpPr>
          <p:nvPr/>
        </p:nvSpPr>
        <p:spPr>
          <a:xfrm>
            <a:off x="3714750" y="4838700"/>
            <a:ext cx="7972425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Examine paired activity ratings only where dual users rated both tools for the same category; report direct comparison responses separately, including 'Unable to compare'.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Content divider"/>
          <p:cNvSpPr>
            <a:spLocks noGrp="1"/>
          </p:cNvSpPr>
          <p:nvPr/>
        </p:nvSpPr>
        <p:spPr>
          <a:xfrm>
            <a:off x="504825" y="2676525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20" name="Content divider"/>
          <p:cNvSpPr>
            <a:spLocks noGrp="1"/>
          </p:cNvSpPr>
          <p:nvPr/>
        </p:nvSpPr>
        <p:spPr>
          <a:xfrm>
            <a:off x="504825" y="37147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21" name="Content divider"/>
          <p:cNvSpPr>
            <a:spLocks noGrp="1"/>
          </p:cNvSpPr>
          <p:nvPr/>
        </p:nvSpPr>
        <p:spPr>
          <a:xfrm>
            <a:off x="504825" y="4752975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22" name="Student perspectives on AI in Higher Education: Student Surv"/>
          <p:cNvSpPr>
            <a:spLocks noGrp="1"/>
          </p:cNvSpPr>
          <p:nvPr/>
        </p:nvSpPr>
        <p:spPr>
          <a:xfrm>
            <a:off x="504825" y="60388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Student perspectives on AI in Higher Education: Student Survey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Chung, J., et al. (2024). </a:t>
            </a:r>
            <a:r>
              <a:rPr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/>
              </a:rPr>
              <a:t>Monash University</a:t>
            </a:r>
            <a:endParaRPr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1"/>
            </a:endParaRPr>
          </a:p>
        </p:txBody>
      </p:sp>
      <p:sp>
        <p:nvSpPr>
          <p:cNvPr id="23" name="Perceived usefulness, perceived ease of use, and user accept"/>
          <p:cNvSpPr>
            <a:spLocks noGrp="1"/>
          </p:cNvSpPr>
          <p:nvPr/>
        </p:nvSpPr>
        <p:spPr>
          <a:xfrm>
            <a:off x="504825" y="64198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Perceived usefulness, perceived ease of use, and user acceptance of information technology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Davis, F. D. (1989). </a:t>
            </a:r>
            <a:r>
              <a:rPr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/>
              </a:rPr>
              <a:t>MIS Quarterly</a:t>
            </a:r>
            <a:endParaRPr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ADS401 Students' Perspective on AI Agents at XJTLU"/>
          <p:cNvSpPr>
            <a:spLocks noGrp="1"/>
          </p:cNvSpPr>
          <p:nvPr/>
        </p:nvSpPr>
        <p:spPr>
          <a:xfrm>
            <a:off x="504825" y="257175"/>
            <a:ext cx="11182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ADS401 Students' Perspective on AI Agents at XJTLU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Follow-up Interviews &amp; Integrated Analysis"/>
          <p:cNvSpPr>
            <a:spLocks noGrp="1"/>
          </p:cNvSpPr>
          <p:nvPr/>
        </p:nvSpPr>
        <p:spPr>
          <a:xfrm>
            <a:off x="504825" y="657225"/>
            <a:ext cx="111823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Follow-up Interviews &amp; Integrated Analysis</a:t>
            </a:r>
            <a:endParaRPr sz="3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04825" y="13525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04825" y="59626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6" name="06 / 08"/>
          <p:cNvSpPr>
            <a:spLocks noGrp="1"/>
          </p:cNvSpPr>
          <p:nvPr/>
        </p:nvSpPr>
        <p:spPr>
          <a:xfrm>
            <a:off x="11144250" y="6572250"/>
            <a:ext cx="714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 / 09</a:t>
            </a:r>
            <a:endParaRPr sz="11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Semi-structured Interviews"/>
          <p:cNvSpPr>
            <a:spLocks noGrp="1"/>
          </p:cNvSpPr>
          <p:nvPr/>
        </p:nvSpPr>
        <p:spPr>
          <a:xfrm>
            <a:off x="504825" y="159067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2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Semi-structured Interviews</a:t>
            </a:r>
            <a:endParaRPr sz="22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Qualitative &amp; Integrated Analysis"/>
          <p:cNvSpPr>
            <a:spLocks noGrp="1"/>
          </p:cNvSpPr>
          <p:nvPr/>
        </p:nvSpPr>
        <p:spPr>
          <a:xfrm>
            <a:off x="6477000" y="159067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0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2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Qualitative &amp; Integrated Analysis</a:t>
            </a:r>
            <a:endParaRPr sz="22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Sampling:"/>
          <p:cNvSpPr>
            <a:spLocks noGrp="1"/>
          </p:cNvSpPr>
          <p:nvPr/>
        </p:nvSpPr>
        <p:spPr>
          <a:xfrm>
            <a:off x="504825" y="2057400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0033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Sampling: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Purposive sampling among survey respondents who opt into follow-up con"/>
          <p:cNvSpPr>
            <a:spLocks noGrp="1"/>
          </p:cNvSpPr>
          <p:nvPr/>
        </p:nvSpPr>
        <p:spPr>
          <a:xfrm>
            <a:off x="504825" y="2419350"/>
            <a:ext cx="5143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Purposive sampling of opt-in respondents,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informed by initial survey analysis.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Participants:"/>
          <p:cNvSpPr>
            <a:spLocks noGrp="1"/>
          </p:cNvSpPr>
          <p:nvPr/>
        </p:nvSpPr>
        <p:spPr>
          <a:xfrm>
            <a:off x="504825" y="3048000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0033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Participants: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About 4–6 students, prioritising students in 2 groups (Both AI / Other"/>
          <p:cNvSpPr>
            <a:spLocks noGrp="1"/>
          </p:cNvSpPr>
          <p:nvPr/>
        </p:nvSpPr>
        <p:spPr>
          <a:xfrm>
            <a:off x="504825" y="3409950"/>
            <a:ext cx="5143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7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About 4–6 students; prioritise Both AI / Other AI Only.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Duration:"/>
          <p:cNvSpPr>
            <a:spLocks noGrp="1"/>
          </p:cNvSpPr>
          <p:nvPr/>
        </p:nvSpPr>
        <p:spPr>
          <a:xfrm>
            <a:off x="504825" y="4038600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0033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Duration: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15–20 minutes per interview."/>
          <p:cNvSpPr>
            <a:spLocks noGrp="1"/>
          </p:cNvSpPr>
          <p:nvPr/>
        </p:nvSpPr>
        <p:spPr>
          <a:xfrm>
            <a:off x="504825" y="4400550"/>
            <a:ext cx="5143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7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15–20 minutes per interview.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Focus:"/>
          <p:cNvSpPr>
            <a:spLocks noGrp="1"/>
          </p:cNvSpPr>
          <p:nvPr/>
        </p:nvSpPr>
        <p:spPr>
          <a:xfrm>
            <a:off x="504825" y="4800600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7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0033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Focus: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ool-choice motivations, adoption barriers, and learning experiences."/>
          <p:cNvSpPr>
            <a:spLocks noGrp="1"/>
          </p:cNvSpPr>
          <p:nvPr/>
        </p:nvSpPr>
        <p:spPr>
          <a:xfrm>
            <a:off x="504825" y="5162550"/>
            <a:ext cx="514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7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7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Tool-choice motivations, adoption barriers, and learning experiences.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hematic Analysis:"/>
          <p:cNvSpPr>
            <a:spLocks noGrp="1"/>
          </p:cNvSpPr>
          <p:nvPr/>
        </p:nvSpPr>
        <p:spPr>
          <a:xfrm>
            <a:off x="6477000" y="2057400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0033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Thematic Analysis: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Code interviews and identify recurring themes."/>
          <p:cNvSpPr>
            <a:spLocks noGrp="1"/>
          </p:cNvSpPr>
          <p:nvPr/>
        </p:nvSpPr>
        <p:spPr>
          <a:xfrm>
            <a:off x="6477000" y="2419350"/>
            <a:ext cx="5143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7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Code interviews and identify recurring themes.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Integration:"/>
          <p:cNvSpPr>
            <a:spLocks noGrp="1"/>
          </p:cNvSpPr>
          <p:nvPr/>
        </p:nvSpPr>
        <p:spPr>
          <a:xfrm>
            <a:off x="6477000" y="3048000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0033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Integration: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Connect interview themes with survey patterns."/>
          <p:cNvSpPr>
            <a:spLocks noGrp="1"/>
          </p:cNvSpPr>
          <p:nvPr/>
        </p:nvSpPr>
        <p:spPr>
          <a:xfrm>
            <a:off x="6477000" y="3409950"/>
            <a:ext cx="5143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7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Connect interview themes with survey patterns.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Outcome:"/>
          <p:cNvSpPr>
            <a:spLocks noGrp="1"/>
          </p:cNvSpPr>
          <p:nvPr/>
        </p:nvSpPr>
        <p:spPr>
          <a:xfrm>
            <a:off x="6477000" y="4038600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0033F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Outcome: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Explain adoption decisions and identify potential XJTLU AI improvement"/>
          <p:cNvSpPr>
            <a:spLocks noGrp="1"/>
          </p:cNvSpPr>
          <p:nvPr/>
        </p:nvSpPr>
        <p:spPr>
          <a:xfrm>
            <a:off x="6477000" y="4400550"/>
            <a:ext cx="51435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9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725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Explain adoption decisions and identify potential XJTLU AI improvements.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Content divider"/>
          <p:cNvSpPr>
            <a:spLocks noGrp="1"/>
          </p:cNvSpPr>
          <p:nvPr/>
        </p:nvSpPr>
        <p:spPr>
          <a:xfrm>
            <a:off x="6096000" y="1752600"/>
            <a:ext cx="0" cy="401955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25" name="Using thematic analysis in psychology&#10;Braun, V., &amp; Clarke, V"/>
          <p:cNvSpPr>
            <a:spLocks noGrp="1"/>
          </p:cNvSpPr>
          <p:nvPr/>
        </p:nvSpPr>
        <p:spPr>
          <a:xfrm>
            <a:off x="504825" y="60388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Using thematic analysis in psychology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Braun, V., &amp; Clarke, V. (2006). </a:t>
            </a:r>
            <a:r>
              <a:rPr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/>
              </a:rPr>
              <a:t>Qualitative Research in Psychology</a:t>
            </a:r>
            <a:endParaRPr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1"/>
            </a:endParaRPr>
          </a:p>
        </p:txBody>
      </p:sp>
      <p:sp>
        <p:nvSpPr>
          <p:cNvPr id="26" name="Achieving integration in mixed methods designs—Principles an"/>
          <p:cNvSpPr>
            <a:spLocks noGrp="1"/>
          </p:cNvSpPr>
          <p:nvPr/>
        </p:nvSpPr>
        <p:spPr>
          <a:xfrm>
            <a:off x="504825" y="64198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Achieving integration in mixed methods designs—Principles and practices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Fetters, M. D., Curry, L. A., &amp; Creswell, J. W. (2013). </a:t>
            </a:r>
            <a:r>
              <a:rPr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/>
              </a:rPr>
              <a:t>Health Services Research</a:t>
            </a:r>
            <a:endParaRPr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ADS401 Students' Perspective on AI Agents at XJTLU"/>
          <p:cNvSpPr>
            <a:spLocks noGrp="1"/>
          </p:cNvSpPr>
          <p:nvPr/>
        </p:nvSpPr>
        <p:spPr>
          <a:xfrm>
            <a:off x="504825" y="257175"/>
            <a:ext cx="11182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ADS401 Students' Perspective on AI Agents at XJTLU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Next Steps"/>
          <p:cNvSpPr>
            <a:spLocks noGrp="1"/>
          </p:cNvSpPr>
          <p:nvPr/>
        </p:nvSpPr>
        <p:spPr>
          <a:xfrm>
            <a:off x="504825" y="657225"/>
            <a:ext cx="111823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Next Steps</a:t>
            </a:r>
            <a:endParaRPr sz="3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04825" y="13525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04825" y="624840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5" name="07 / 08"/>
          <p:cNvSpPr>
            <a:spLocks noGrp="1"/>
          </p:cNvSpPr>
          <p:nvPr/>
        </p:nvSpPr>
        <p:spPr>
          <a:xfrm>
            <a:off x="11144250" y="6572250"/>
            <a:ext cx="714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 / 09</a:t>
            </a:r>
            <a:endParaRPr sz="11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01"/>
          <p:cNvSpPr>
            <a:spLocks noGrp="1"/>
          </p:cNvSpPr>
          <p:nvPr/>
        </p:nvSpPr>
        <p:spPr>
          <a:xfrm>
            <a:off x="504825" y="1971675"/>
            <a:ext cx="714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7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01</a:t>
            </a:r>
            <a:endParaRPr sz="27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Research Materials"/>
          <p:cNvSpPr>
            <a:spLocks noGrp="1"/>
          </p:cNvSpPr>
          <p:nvPr/>
        </p:nvSpPr>
        <p:spPr>
          <a:xfrm>
            <a:off x="1371600" y="1990725"/>
            <a:ext cx="4286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Research Materials</a:t>
            </a:r>
            <a:endParaRPr sz="23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371600" y="3019425"/>
            <a:ext cx="42862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9" name="02"/>
          <p:cNvSpPr>
            <a:spLocks noGrp="1"/>
          </p:cNvSpPr>
          <p:nvPr/>
        </p:nvSpPr>
        <p:spPr>
          <a:xfrm>
            <a:off x="504825" y="3257550"/>
            <a:ext cx="714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7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02</a:t>
            </a:r>
            <a:endParaRPr sz="27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Internal Questionnaire Check&#10;(4 researchers)"/>
          <p:cNvSpPr>
            <a:spLocks noGrp="1"/>
          </p:cNvSpPr>
          <p:nvPr/>
        </p:nvSpPr>
        <p:spPr>
          <a:xfrm>
            <a:off x="1371600" y="3276600"/>
            <a:ext cx="4286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Internal Questionnaire Check</a:t>
            </a:r>
            <a:endParaRPr sz="23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(4 researchers)</a:t>
            </a:r>
            <a:endParaRPr sz="23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1371600" y="4305300"/>
            <a:ext cx="42862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12" name="03"/>
          <p:cNvSpPr>
            <a:spLocks noGrp="1"/>
          </p:cNvSpPr>
          <p:nvPr/>
        </p:nvSpPr>
        <p:spPr>
          <a:xfrm>
            <a:off x="504825" y="4543425"/>
            <a:ext cx="714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7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</a:t>
            </a:r>
            <a:endParaRPr sz="27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Survey Data Collection"/>
          <p:cNvSpPr>
            <a:spLocks noGrp="1"/>
          </p:cNvSpPr>
          <p:nvPr/>
        </p:nvSpPr>
        <p:spPr>
          <a:xfrm>
            <a:off x="1371600" y="4562475"/>
            <a:ext cx="4286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Survey Data Collection</a:t>
            </a:r>
            <a:endParaRPr sz="23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04"/>
          <p:cNvSpPr>
            <a:spLocks noGrp="1"/>
          </p:cNvSpPr>
          <p:nvPr/>
        </p:nvSpPr>
        <p:spPr>
          <a:xfrm>
            <a:off x="6477000" y="1971675"/>
            <a:ext cx="714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7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</a:t>
            </a:r>
            <a:endParaRPr sz="27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Preliminary Survey Analysis"/>
          <p:cNvSpPr>
            <a:spLocks noGrp="1"/>
          </p:cNvSpPr>
          <p:nvPr/>
        </p:nvSpPr>
        <p:spPr>
          <a:xfrm>
            <a:off x="7343775" y="1990725"/>
            <a:ext cx="4286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Preliminary Survey Analysis</a:t>
            </a:r>
            <a:endParaRPr sz="23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7343775" y="3019425"/>
            <a:ext cx="42862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17" name="05"/>
          <p:cNvSpPr>
            <a:spLocks noGrp="1"/>
          </p:cNvSpPr>
          <p:nvPr/>
        </p:nvSpPr>
        <p:spPr>
          <a:xfrm>
            <a:off x="6477000" y="3257550"/>
            <a:ext cx="714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7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</a:t>
            </a:r>
            <a:endParaRPr sz="27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Follow-up Interviews"/>
          <p:cNvSpPr>
            <a:spLocks noGrp="1"/>
          </p:cNvSpPr>
          <p:nvPr/>
        </p:nvSpPr>
        <p:spPr>
          <a:xfrm>
            <a:off x="7343775" y="3276600"/>
            <a:ext cx="4286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Follow-up Interviews</a:t>
            </a:r>
            <a:endParaRPr sz="23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7343775" y="4305300"/>
            <a:ext cx="42862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20" name="06"/>
          <p:cNvSpPr>
            <a:spLocks noGrp="1"/>
          </p:cNvSpPr>
          <p:nvPr/>
        </p:nvSpPr>
        <p:spPr>
          <a:xfrm>
            <a:off x="6477000" y="4543425"/>
            <a:ext cx="714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700" b="1">
                <a:solidFill>
                  <a:srgbClr val="1683A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7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</a:t>
            </a:r>
            <a:endParaRPr sz="27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Thematic Analysis &amp; Integration"/>
          <p:cNvSpPr>
            <a:spLocks noGrp="1"/>
          </p:cNvSpPr>
          <p:nvPr/>
        </p:nvSpPr>
        <p:spPr>
          <a:xfrm>
            <a:off x="7343775" y="4562475"/>
            <a:ext cx="42862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23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30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Thematic Analysis &amp; Integration</a:t>
            </a:r>
            <a:endParaRPr sz="230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ADS401 Students' Perspective on AI Agents at XJTLU"/>
          <p:cNvSpPr>
            <a:spLocks noGrp="1"/>
          </p:cNvSpPr>
          <p:nvPr/>
        </p:nvSpPr>
        <p:spPr>
          <a:xfrm>
            <a:off x="504825" y="257175"/>
            <a:ext cx="11182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100" b="0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ADS401 Students' Perspective on AI Agents at XJTLU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Materials"/>
          <p:cNvSpPr>
            <a:spLocks noGrp="1"/>
          </p:cNvSpPr>
          <p:nvPr/>
        </p:nvSpPr>
        <p:spPr>
          <a:xfrm>
            <a:off x="504825" y="657225"/>
            <a:ext cx="111823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3000" b="1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Limitations</a:t>
            </a:r>
            <a:endParaRPr sz="3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04825" y="13525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04825" y="5962650"/>
            <a:ext cx="11182350" cy="0"/>
          </a:xfrm>
          <a:prstGeom prst="line">
            <a:avLst/>
          </a:prstGeom>
          <a:ln w="12700">
            <a:solidFill>
              <a:srgbClr val="EAEAEA"/>
            </a:solidFill>
          </a:ln>
        </p:spPr>
      </p:sp>
      <p:sp>
        <p:nvSpPr>
          <p:cNvPr id="6" name="08 / 08"/>
          <p:cNvSpPr>
            <a:spLocks noGrp="1"/>
          </p:cNvSpPr>
          <p:nvPr/>
        </p:nvSpPr>
        <p:spPr>
          <a:xfrm>
            <a:off x="11144250" y="6572250"/>
            <a:ext cx="714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900" b="0">
                <a:solidFill>
                  <a:srgbClr val="68778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08 / 09</a:t>
            </a:r>
            <a:endParaRPr sz="11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Single-module sample"/>
          <p:cNvSpPr>
            <a:spLocks noGrp="1"/>
          </p:cNvSpPr>
          <p:nvPr/>
        </p:nvSpPr>
        <p:spPr>
          <a:xfrm>
            <a:off x="504825" y="1657350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Single-module sample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" name="The findings describe participating ADS401 students; voluntary partici"/>
          <p:cNvSpPr>
            <a:spLocks noGrp="1"/>
          </p:cNvSpPr>
          <p:nvPr/>
        </p:nvSpPr>
        <p:spPr>
          <a:xfrm>
            <a:off x="504825" y="2057400"/>
            <a:ext cx="5143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165100" indent="-101600">
              <a:spcAft>
                <a:spcPts val="500"/>
              </a:spcAft>
              <a:buChar char="•"/>
              <a:defRPr sz="1600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Findings describe participating ADS401 students; no generalisation to all XJTLU students.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165100" indent="-101600">
              <a:spcAft>
                <a:spcPts val="500"/>
              </a:spcAft>
              <a:buChar char="•"/>
              <a:defRPr sz="1600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Voluntary participation may limit representativeness even within ADS401.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Self-reported data"/>
          <p:cNvSpPr>
            <a:spLocks noGrp="1"/>
          </p:cNvSpPr>
          <p:nvPr/>
        </p:nvSpPr>
        <p:spPr>
          <a:xfrm>
            <a:off x="504825" y="4419600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Self-reported data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The study relies mainly on students' reported behaviors and perception"/>
          <p:cNvSpPr>
            <a:spLocks noGrp="1"/>
          </p:cNvSpPr>
          <p:nvPr/>
        </p:nvSpPr>
        <p:spPr>
          <a:xfrm>
            <a:off x="504825" y="4819650"/>
            <a:ext cx="5143500" cy="5734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b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600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study relies mainly on students' reported behaviors and perceptions.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Interview coverage"/>
          <p:cNvSpPr>
            <a:spLocks noGrp="1"/>
          </p:cNvSpPr>
          <p:nvPr/>
        </p:nvSpPr>
        <p:spPr>
          <a:xfrm>
            <a:off x="6477000" y="1657350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Interview coverage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Prioritising Both AI and Other AI Only may underrepresent No AI and XJ"/>
          <p:cNvSpPr>
            <a:spLocks noGrp="1"/>
          </p:cNvSpPr>
          <p:nvPr/>
        </p:nvSpPr>
        <p:spPr>
          <a:xfrm>
            <a:off x="6477000" y="2057400"/>
            <a:ext cx="5143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600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Prioritising Both AI and Other AI Only may underrepresent No AI and XJTLU AI Only perspectives.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Cross-sectional design"/>
          <p:cNvSpPr>
            <a:spLocks noGrp="1"/>
          </p:cNvSpPr>
          <p:nvPr/>
        </p:nvSpPr>
        <p:spPr>
          <a:xfrm>
            <a:off x="6477000" y="3038475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Cross-sectional design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he survey captures recent use and future intentions, not causal effec"/>
          <p:cNvSpPr>
            <a:spLocks noGrp="1"/>
          </p:cNvSpPr>
          <p:nvPr/>
        </p:nvSpPr>
        <p:spPr>
          <a:xfrm>
            <a:off x="6477000" y="3438525"/>
            <a:ext cx="5143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600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survey captures recent use and future intentions, not causal effects or observed long-term continued use.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Perception-based comparison"/>
          <p:cNvSpPr>
            <a:spLocks noGrp="1"/>
          </p:cNvSpPr>
          <p:nvPr/>
        </p:nvSpPr>
        <p:spPr>
          <a:xfrm>
            <a:off x="6477000" y="4419600"/>
            <a:ext cx="5143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800" b="1">
                <a:solidFill>
                  <a:srgbClr val="183F4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8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1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Perception-based comparison</a:t>
            </a:r>
            <a:endParaRPr sz="2100" b="1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Comparisons with external AI tools do not establish objective differen"/>
          <p:cNvSpPr>
            <a:spLocks noGrp="1"/>
          </p:cNvSpPr>
          <p:nvPr/>
        </p:nvSpPr>
        <p:spPr>
          <a:xfrm>
            <a:off x="6477000" y="4819650"/>
            <a:ext cx="51435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b">
            <a:noAutofit/>
          </a:bodyPr>
          <a:lstStyle>
            <a:defPPr>
              <a:def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600" b="0">
                <a:solidFill>
                  <a:srgbClr val="1723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600" b="0">
                <a:solidFill>
                  <a:srgbClr val="5555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Comparisons with external AI tools do not establish objective differences in system capabilities.</a:t>
            </a:r>
            <a:endParaRPr sz="2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Student perspectives on AI in Higher Education: Student Surv"/>
          <p:cNvSpPr>
            <a:spLocks noGrp="1"/>
          </p:cNvSpPr>
          <p:nvPr/>
        </p:nvSpPr>
        <p:spPr>
          <a:xfrm>
            <a:off x="504825" y="60388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Student perspectives on AI in Higher Education: Student Survey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Chung, J., et al. (2024). </a:t>
            </a:r>
            <a:r>
              <a:rPr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/>
              </a:rPr>
              <a:t>Monash University</a:t>
            </a:r>
            <a:endParaRPr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1"/>
            </a:endParaRPr>
          </a:p>
        </p:txBody>
      </p:sp>
      <p:sp>
        <p:nvSpPr>
          <p:cNvPr id="21" name="To adopt or to ban? Student perceptions and use of generativ"/>
          <p:cNvSpPr>
            <a:spLocks noGrp="1"/>
          </p:cNvSpPr>
          <p:nvPr/>
        </p:nvSpPr>
        <p:spPr>
          <a:xfrm>
            <a:off x="504825" y="64198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To adopt or to ban? Student perceptions and use of generative AI in higher education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>
              <a:buNone/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Farinosi, M., &amp; Melchior, C. (2025). </a:t>
            </a:r>
            <a:r>
              <a:rPr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/>
              </a:rPr>
              <a:t>Humanities and Social Sciences Communications</a:t>
            </a:r>
            <a:endParaRPr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ADS401 Students' Perspective on AI Agents at XJTLU"/>
          <p:cNvSpPr>
            <a:spLocks noGrp="1"/>
          </p:cNvSpPr>
          <p:nvPr/>
        </p:nvSpPr>
        <p:spPr>
          <a:xfrm>
            <a:off x="504825" y="257175"/>
            <a:ext cx="111823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ADS401 Students' Perspective on AI Agents at XJTLU</a:t>
            </a:r>
            <a:endParaRPr sz="12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Materials"/>
          <p:cNvSpPr>
            <a:spLocks noGrp="1"/>
          </p:cNvSpPr>
          <p:nvPr/>
        </p:nvSpPr>
        <p:spPr>
          <a:xfrm>
            <a:off x="504825" y="657225"/>
            <a:ext cx="66675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Materials</a:t>
            </a:r>
            <a:endParaRPr sz="3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Q&amp;A"/>
          <p:cNvSpPr>
            <a:spLocks noGrp="1"/>
          </p:cNvSpPr>
          <p:nvPr/>
        </p:nvSpPr>
        <p:spPr>
          <a:xfrm>
            <a:off x="8295640" y="3429000"/>
            <a:ext cx="340042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200" b="1">
                <a:solidFill>
                  <a:srgbClr val="11111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Q&amp;A</a:t>
            </a:r>
            <a:endParaRPr sz="3200" b="1">
              <a:solidFill>
                <a:srgbClr val="11111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504825" y="1352550"/>
            <a:ext cx="11182350" cy="0"/>
          </a:xfrm>
          <a:prstGeom prst="line">
            <a:avLst/>
          </a:prstGeom>
          <a:ln w="12697">
            <a:solidFill>
              <a:srgbClr val="EAEAEA"/>
            </a:solidFill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7715250" y="1714500"/>
            <a:ext cx="0" cy="4000500"/>
          </a:xfrm>
          <a:prstGeom prst="line">
            <a:avLst/>
          </a:prstGeom>
          <a:ln w="12697">
            <a:solidFill>
              <a:srgbClr val="EAEAEA"/>
            </a:solidFill>
          </a:ln>
        </p:spPr>
      </p:sp>
      <p:sp>
        <p:nvSpPr>
          <p:cNvPr id="6" name="Materials inventory"/>
          <p:cNvSpPr>
            <a:spLocks noGrp="1"/>
          </p:cNvSpPr>
          <p:nvPr/>
        </p:nvSpPr>
        <p:spPr>
          <a:xfrm>
            <a:off x="504825" y="2047875"/>
            <a:ext cx="6715125" cy="3524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101600" indent="0">
              <a:spcAft>
                <a:spcPts val="1800"/>
              </a:spcAft>
              <a:buNone/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210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Our online materials are available on:</a:t>
            </a:r>
            <a:r>
              <a:rPr lang="en-US" sz="210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/>
              </a:rPr>
              <a:t> </a:t>
            </a:r>
            <a:r>
              <a:rPr lang="en-US" altLang="zh-CN" sz="1600" u="sng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/>
              </a:rPr>
              <a:t>https://github.com/LionChenA/ads401/tree/main/assets/pre2</a:t>
            </a:r>
            <a:endParaRPr sz="1600" u="sng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1"/>
            </a:endParaRPr>
          </a:p>
          <a:p>
            <a:pPr marL="254000" indent="-152400">
              <a:spcAft>
                <a:spcPts val="1800"/>
              </a:spcAft>
              <a:buChar char="•"/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u="sng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1"/>
              </a:rPr>
              <a:t>Study scope, RQs, sampling and analysis plan</a:t>
            </a:r>
            <a:endParaRPr sz="2100" u="sng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54000" indent="-152400">
              <a:spcAft>
                <a:spcPts val="1800"/>
              </a:spcAft>
              <a:buChar char="•"/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u="sng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2"/>
              </a:rPr>
              <a:t>Full questionnaire</a:t>
            </a:r>
            <a:endParaRPr sz="2100" u="sng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54000" indent="-152400">
              <a:spcAft>
                <a:spcPts val="1800"/>
              </a:spcAft>
              <a:buChar char="•"/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u="sng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3"/>
              </a:rPr>
              <a:t>Survey routing source</a:t>
            </a:r>
            <a:endParaRPr sz="2100" u="sng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54000" indent="-152400">
              <a:spcAft>
                <a:spcPts val="1800"/>
              </a:spcAft>
              <a:buChar char="•"/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u="sng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4"/>
              </a:rPr>
              <a:t>Survey routing image</a:t>
            </a:r>
            <a:endParaRPr sz="2100" u="sng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54000" indent="-152400">
              <a:spcAft>
                <a:spcPts val="1800"/>
              </a:spcAft>
              <a:buChar char="•"/>
              <a:defRPr sz="2100" b="0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u="sng">
                <a:solidFill>
                  <a:srgbClr val="007A9E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5"/>
              </a:rPr>
              <a:t>Reference list</a:t>
            </a:r>
            <a:endParaRPr sz="2100" u="sng">
              <a:solidFill>
                <a:srgbClr val="007A9E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5"/>
            </a:endParaRPr>
          </a:p>
        </p:txBody>
      </p:sp>
      <p:sp>
        <p:nvSpPr>
          <p:cNvPr id="7" name="Thank you"/>
          <p:cNvSpPr>
            <a:spLocks noGrp="1"/>
          </p:cNvSpPr>
          <p:nvPr/>
        </p:nvSpPr>
        <p:spPr>
          <a:xfrm>
            <a:off x="8286750" y="2637155"/>
            <a:ext cx="34004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 algn="l">
              <a:defRPr sz="3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 algn="l">
              <a:defRPr sz="3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 algn="l">
              <a:defRPr sz="3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 algn="l">
              <a:defRPr sz="3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 algn="l">
              <a:defRPr sz="3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 algn="l">
              <a:defRPr sz="3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 algn="l">
              <a:defRPr sz="3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 algn="l">
              <a:defRPr sz="3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 algn="l">
              <a:defRPr sz="3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algn="l">
              <a:defRPr sz="3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000" b="0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Thank you</a:t>
            </a:r>
            <a:endParaRPr sz="3000" b="0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504825" y="6248400"/>
            <a:ext cx="11182350" cy="0"/>
          </a:xfrm>
          <a:prstGeom prst="line">
            <a:avLst/>
          </a:prstGeom>
          <a:ln w="12697">
            <a:solidFill>
              <a:srgbClr val="EAEAEA"/>
            </a:solidFill>
          </a:ln>
        </p:spPr>
      </p:sp>
      <p:sp>
        <p:nvSpPr>
          <p:cNvPr id="9" name="Materials directory reference"/>
          <p:cNvSpPr>
            <a:spLocks noGrp="1"/>
          </p:cNvSpPr>
          <p:nvPr/>
        </p:nvSpPr>
        <p:spPr>
          <a:xfrm>
            <a:off x="504825" y="6362700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Materials: </a:t>
            </a:r>
            <a:r>
              <a:rPr sz="1200" b="0" u="sng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  <a:hlinkClick r:id="rId6"/>
              </a:rPr>
              <a:t>https://github.com/LionChenA/ads401/tree/main/assets/pre2/materials</a:t>
            </a:r>
            <a:endParaRPr sz="1200" b="0" u="sng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  <a:hlinkClick r:id="rId6"/>
            </a:endParaRPr>
          </a:p>
        </p:txBody>
      </p:sp>
      <p:sp>
        <p:nvSpPr>
          <p:cNvPr id="10" name="09 / 09"/>
          <p:cNvSpPr>
            <a:spLocks noGrp="1"/>
          </p:cNvSpPr>
          <p:nvPr/>
        </p:nvSpPr>
        <p:spPr>
          <a:xfrm>
            <a:off x="11144250" y="6572250"/>
            <a:ext cx="71437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  <a:lvl1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>
              <a:def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00" b="0">
                <a:solidFill>
                  <a:srgbClr val="70707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09 / 09</a:t>
            </a:r>
            <a:endParaRPr sz="1100" b="0">
              <a:solidFill>
                <a:srgbClr val="70707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Deep Teal Blue">
      <a:dk1>
        <a:srgbClr val="111111"/>
      </a:dk1>
      <a:lt1>
        <a:srgbClr val="FFFFFF"/>
      </a:lt1>
      <a:dk2>
        <a:srgbClr val="444444"/>
      </a:dk2>
      <a:lt2>
        <a:srgbClr val="F5F5F5"/>
      </a:lt2>
      <a:accent1>
        <a:srgbClr val="007A9E"/>
      </a:accent1>
      <a:accent2>
        <a:srgbClr val="444444"/>
      </a:accent2>
      <a:accent3>
        <a:srgbClr val="666666"/>
      </a:accent3>
      <a:accent4>
        <a:srgbClr val="888888"/>
      </a:accent4>
      <a:accent5>
        <a:srgbClr val="CCCCCC"/>
      </a:accent5>
      <a:accent6>
        <a:srgbClr val="EAEAEA"/>
      </a:accent6>
      <a:hlink>
        <a:srgbClr val="007A9E"/>
      </a:hlink>
      <a:folHlink>
        <a:srgbClr val="007A9E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Deep Teal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6171</Words>
  <Application>WPS 演示</Application>
  <PresentationFormat>Converted Presentation</PresentationFormat>
  <Paragraphs>292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方正雅意黑 GB18030L2</vt:lpstr>
      <vt:lpstr>宋体</vt:lpstr>
      <vt:lpstr>Arial Unicode MS</vt:lpstr>
      <vt:lpstr>Aptos</vt:lpstr>
      <vt:lpstr>Helvetica Neue</vt:lpstr>
      <vt:lpstr>汉仪书宋二KW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安提</cp:lastModifiedBy>
  <cp:revision>2</cp:revision>
  <dcterms:created xsi:type="dcterms:W3CDTF">2026-10-18T13:04:43Z</dcterms:created>
  <dcterms:modified xsi:type="dcterms:W3CDTF">2026-10-18T13:04:43Z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1E0ADAC302C3ED91EBC3D46A71D5A222_43</vt:lpwstr>
  </property>
</Properties>
</file>